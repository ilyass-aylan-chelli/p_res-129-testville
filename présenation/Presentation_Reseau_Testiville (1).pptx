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réseau : on explique la topologie, le plan d’adressage, le choix du matériel puis les commandes utilisées.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 en une phrase : on voit le réseau, on explique les adresses, le matériel, puis les commandes.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sites : la bibliothèque (Routeur 1), le bâtiment principal avec 3 étages (Routeur 2) et l’atelier du service technique (Routeur 3). Le Routeur 2 est le centre : il relie les deux autres par des réseaux de transit /30.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la maquette réalisée dans Packet Tracer : on y retrouve les 4 switches, les 3 routeurs et les appareils de chaque zone. Le routeur de secours dessiné à côté du Routeur 2 n’est pas configuré.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service a son VLAN et son sous-réseau, dimensionné selon le nombre d’appareils. Les 7 réseaux sont en 192.168.X.0 où X est le numéro du VLAN. Les passerelles sont toujours la première adresse (.1).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passerelles sont en adresse fixe. Le serveur DHCP est en 192.168.10.3 et distribue les adresses de tous les PC, imprimantes et points d’accès.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liaisons entre routeurs : 10.0.0.0/30 entre R1 et R2 (Cat7, 80 m), 10.0.0.4/30 entre R2 et R3 (fibre, 150 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Argumentaire à adapter avec vos propres raisons. Le point fort : un switch par zone pour limiter la longueur des câbles, un routeur par site, et la fibre optique pour la distance supérieure à 100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crée un VLAN par service : 10 serveurs, 20 bibliothèque, 30 finance, 40 accueil, 50 direction, 60 service technique, 70 guest.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port où l’on branche un PC ou une imprimante est mis en mode access et affecté à un seul VLAN. Exemple : Fa0/2 du Switch1 est dans le VLAN 20 (bibliothèque).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port Gig0/1 relie le switch au routeur. Un seul câble transporte tous les VLAN du switch grâce au marquage 802.1Q.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seul port physique du routeur sert de passerelle à tous les VLAN d’un switch : c’est le routage inter-VLAN (router-on-a-stick).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routeur ne connaît que ses réseaux directement connectés. On lui indique par quel voisin atteindre les autres : 5 routes sur le Routeur 1, 3 sur le Routeur 2, 6 sur le Routeur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serveur DHCP est dans le VLAN 10. Les demandes DHCP sont des broadcasts qui ne traversent pas les routeurs : helper-address les transforme en demandes dirigées vers le serveur.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dire à l’oral par Ilyass et Quentin : notre avis sur le réseau, puis ce qu’on aurait pu faire en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la classe puis ouvrir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l’hôtel de ville de Testiville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VLAN, routage inter-VLAN et DHCP – 3 sites, 7 VLAN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05156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 du réseau (schéma draw.io)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1527048"/>
            <a:ext cx="365760" cy="3657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5270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Packet Tracer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22960" y="2002536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0025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d’adressage et VLAN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22960" y="2478024"/>
            <a:ext cx="365760" cy="3657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4780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matériel ?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22960" y="2953512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29535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des switches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des routeurs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22960" y="3904488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39044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avis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22960" y="4379976"/>
            <a:ext cx="365760" cy="3657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43799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 du réseau</a:t>
            </a:r>
            <a:endParaRPr lang="en-US" sz="2600" dirty="0"/>
          </a:p>
        </p:txBody>
      </p:sp>
      <p:pic>
        <p:nvPicPr>
          <p:cNvPr id="6" name="Image 0" descr="/mnt/user-data/uploads/Capture_d_écran_2026-10-04_0921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486400" cy="3154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80760" y="109728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routeurs 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bibliothèque, R2 bâtiment central, R3 service technique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switches 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zone (S1 à S4)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liaisons de transit 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10.0.0.0/30 et 10.0.0.4/30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en étoile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 du Routeur 2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réalisé sur draw.io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Packet Tracer</a:t>
            </a:r>
            <a:endParaRPr lang="en-US" sz="2600" dirty="0"/>
          </a:p>
        </p:txBody>
      </p:sp>
      <p:pic>
        <p:nvPicPr>
          <p:cNvPr id="6" name="Image 0" descr="/mnt/user-data/uploads/Capture_d_écran_2026-10-04_0925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005840"/>
            <a:ext cx="7205472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d’adressage et VLAN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37360"/>
                <a:gridCol w="1645920"/>
                <a:gridCol w="1554480"/>
                <a:gridCol w="15544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Passerelle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Hôtes utilisables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192.168.10.0/29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Bibliothèque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192.168.20.0/28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192.168.30.0/26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Accueil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192.168.40.0/26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192.168.50.0/26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192.168.60.0/27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192.168.70.0/27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192.168.70.1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R1–R2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.1 / R2 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R2–R3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10.0.0.4/30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.5 / R3 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/30 des liaisons de transit ne gaspillent que 2 adresses utiles par lien.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: IP par appareil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1737360"/>
                <a:gridCol w="4023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Passerelle (fixe)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Appareils (adresse par DHCP)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 DHCP 192.168.10.3 (fixe) · Serveur 2 · Imprimante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Bibliothèque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PC · Imprimante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PC · Imprimante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Accueil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PC · 2 imprimantes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PC · Imprimante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192.168.70.1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PC · 2 points d’accès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: réseaux de transit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737360"/>
                <a:gridCol w="1554480"/>
                <a:gridCol w="15544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Liaison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Extrémité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Extrémité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– R2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1 Gig0/0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2 Gig0/0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Cat7, 80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– 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10.0.0.4/30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2 Gig2/0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3 Gig0/2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optique, 150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matériel 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2960-24TT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de niveau 2 : 24 ports FastEthernet pour les PC et imprimantes, 2 ports Gigabit pour la liaison trunk. Gère les VLAN et sépare les services.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09728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2911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des sites éloignés (R1, R3) : ports Gigabit, routage inter-VLAN par sous-interfaces, routes statiques.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central (R2)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modulaire avec plusieurs ports Gigabit : un pour chaque étage et un pour chaque liaison vers R1 et R3.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880360"/>
            <a:ext cx="73152" cy="16002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Cat7 (80 m) vers la bibliothèque : reste sous la limite de 100 m du cuivre. Fibre optique (150 m) vers l’atelier : dépasse les 100 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: créer les VLAN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20370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457200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bibliothèque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70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guest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le VLAN numéro 20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 donne un nom lisible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mode précédent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VLAN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tout, un par service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: les ports d’accès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FastEthernet 0/2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mode access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access vlan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Fa 0/2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choisit le port à configurer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access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 relie un seul appareil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vlan 20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ce port dans le VLAN 20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: le trunk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Gig0/1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trunk encapsulation dot1q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mode trunk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trunk allowed vlan 20,70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dot1q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chaque trame avec son VLAN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trunk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lien pour plusieurs VLAN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vlan 20,70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ces VLAN passent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: les sous-interfaces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20370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457200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 0/1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shutdown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 0/1.20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encapsulation dot1Q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address 192.168.20.1 255.255.255.240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allume le port physique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0/1.20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sous-interface du VLAN 20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dot1Q 20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 la sous-interface au VLAN 20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la passerelle du VLAN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: les routes statiques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841248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2344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route 192.168.30.0 255.255.255.192 10.0.0.2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192.168.30.0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à atteindre (VLAN 30 finance)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255.255.255.192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masque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10.0.0.2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voisin à qui on envoie les paquets (next-hop)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: DHCP et sauvegarde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 0/1.20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helper-address 192.168.10.3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memory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helper-address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demandes DHCP au serveur 192.168.10.3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mode privilégié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memory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la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avis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qu’on aurait pu faire en plus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nous avoir écoutés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des questions 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Réseau Testiville</dc:title>
  <dc:subject>PptxGenJS Presentation</dc:subject>
  <dc:creator>PptxGenJS</dc:creator>
  <cp:lastModifiedBy>PptxGenJS</cp:lastModifiedBy>
  <cp:revision>1</cp:revision>
  <dcterms:created xsi:type="dcterms:W3CDTF">2026-10-04T07:48:59Z</dcterms:created>
  <dcterms:modified xsi:type="dcterms:W3CDTF">2026-10-04T07:48:59Z</dcterms:modified>
</cp:coreProperties>
</file>