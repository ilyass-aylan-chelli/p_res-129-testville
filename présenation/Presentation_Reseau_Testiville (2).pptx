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CAD24-32C3-49FA-B592-7E55205E2A5A}" v="208" dt="2026-10-05T11:09:32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yass Chelli" userId="57aca843-3edc-45ce-b629-2616236eaf55" providerId="ADAL" clId="{1D1B4D5B-C5BE-4FB6-B80D-A584E3625ED7}"/>
    <pc:docChg chg="custSel addSld modSld modMainMaster">
      <pc:chgData name="Ilyass Chelli" userId="57aca843-3edc-45ce-b629-2616236eaf55" providerId="ADAL" clId="{1D1B4D5B-C5BE-4FB6-B80D-A584E3625ED7}" dt="2026-10-05T11:09:32.415" v="223" actId="20577"/>
      <pc:docMkLst>
        <pc:docMk/>
      </pc:docMkLst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56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57"/>
        </pc:sldMkLst>
      </pc:sldChg>
      <pc:sldChg chg="modSp mod modTransition">
        <pc:chgData name="Ilyass Chelli" userId="57aca843-3edc-45ce-b629-2616236eaf55" providerId="ADAL" clId="{1D1B4D5B-C5BE-4FB6-B80D-A584E3625ED7}" dt="2026-10-05T10:27:21.027" v="6" actId="20577"/>
        <pc:sldMkLst>
          <pc:docMk/>
          <pc:sldMk cId="0" sldId="258"/>
        </pc:sldMkLst>
        <pc:spChg chg="mod">
          <ac:chgData name="Ilyass Chelli" userId="57aca843-3edc-45ce-b629-2616236eaf55" providerId="ADAL" clId="{1D1B4D5B-C5BE-4FB6-B80D-A584E3625ED7}" dt="2026-10-05T10:27:21.027" v="6" actId="20577"/>
          <ac:spMkLst>
            <pc:docMk/>
            <pc:sldMk cId="0" sldId="258"/>
            <ac:spMk id="7" creationId="{00000000-0000-0000-0000-000000000000}"/>
          </ac:spMkLst>
        </pc:spChg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59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0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1"/>
        </pc:sldMkLst>
      </pc:sldChg>
      <pc:sldChg chg="modSp mod modTransition">
        <pc:chgData name="Ilyass Chelli" userId="57aca843-3edc-45ce-b629-2616236eaf55" providerId="ADAL" clId="{1D1B4D5B-C5BE-4FB6-B80D-A584E3625ED7}" dt="2026-10-05T10:30:24.128" v="17"/>
        <pc:sldMkLst>
          <pc:docMk/>
          <pc:sldMk cId="0" sldId="262"/>
        </pc:sldMkLst>
        <pc:graphicFrameChg chg="mod modGraphic">
          <ac:chgData name="Ilyass Chelli" userId="57aca843-3edc-45ce-b629-2616236eaf55" providerId="ADAL" clId="{1D1B4D5B-C5BE-4FB6-B80D-A584E3625ED7}" dt="2026-10-05T10:30:24.128" v="17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3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4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5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6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7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8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69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70"/>
        </pc:sldMkLst>
      </pc:sldChg>
      <pc:sldChg chg="modTransition">
        <pc:chgData name="Ilyass Chelli" userId="57aca843-3edc-45ce-b629-2616236eaf55" providerId="ADAL" clId="{1D1B4D5B-C5BE-4FB6-B80D-A584E3625ED7}" dt="2026-10-05T10:24:18.499" v="1"/>
        <pc:sldMkLst>
          <pc:docMk/>
          <pc:sldMk cId="0" sldId="271"/>
        </pc:sldMkLst>
      </pc:sldChg>
      <pc:sldChg chg="addSp delSp modSp add mod setBg">
        <pc:chgData name="Ilyass Chelli" userId="57aca843-3edc-45ce-b629-2616236eaf55" providerId="ADAL" clId="{1D1B4D5B-C5BE-4FB6-B80D-A584E3625ED7}" dt="2026-10-05T11:09:32.415" v="223" actId="20577"/>
        <pc:sldMkLst>
          <pc:docMk/>
          <pc:sldMk cId="1686808399" sldId="272"/>
        </pc:sldMkLst>
        <pc:spChg chg="mod">
          <ac:chgData name="Ilyass Chelli" userId="57aca843-3edc-45ce-b629-2616236eaf55" providerId="ADAL" clId="{1D1B4D5B-C5BE-4FB6-B80D-A584E3625ED7}" dt="2026-10-05T11:09:32.415" v="223" actId="20577"/>
          <ac:spMkLst>
            <pc:docMk/>
            <pc:sldMk cId="1686808399" sldId="272"/>
            <ac:spMk id="4" creationId="{73A30A86-9793-1729-A2E8-6D52C64DC739}"/>
          </ac:spMkLst>
        </pc:spChg>
        <pc:spChg chg="add del mod">
          <ac:chgData name="Ilyass Chelli" userId="57aca843-3edc-45ce-b629-2616236eaf55" providerId="ADAL" clId="{1D1B4D5B-C5BE-4FB6-B80D-A584E3625ED7}" dt="2026-10-05T11:08:23.968" v="126"/>
          <ac:spMkLst>
            <pc:docMk/>
            <pc:sldMk cId="1686808399" sldId="272"/>
            <ac:spMk id="5" creationId="{9FB1A089-57DE-CEA7-4DC3-F6B5E11A9F7A}"/>
          </ac:spMkLst>
        </pc:spChg>
        <pc:spChg chg="del">
          <ac:chgData name="Ilyass Chelli" userId="57aca843-3edc-45ce-b629-2616236eaf55" providerId="ADAL" clId="{1D1B4D5B-C5BE-4FB6-B80D-A584E3625ED7}" dt="2026-10-05T10:59:21.161" v="120" actId="478"/>
          <ac:spMkLst>
            <pc:docMk/>
            <pc:sldMk cId="1686808399" sldId="272"/>
            <ac:spMk id="6" creationId="{5833BCC0-F75F-99C2-8FAD-87CF48E82817}"/>
          </ac:spMkLst>
        </pc:spChg>
        <pc:spChg chg="del">
          <ac:chgData name="Ilyass Chelli" userId="57aca843-3edc-45ce-b629-2616236eaf55" providerId="ADAL" clId="{1D1B4D5B-C5BE-4FB6-B80D-A584E3625ED7}" dt="2026-10-05T10:59:15.400" v="118" actId="478"/>
          <ac:spMkLst>
            <pc:docMk/>
            <pc:sldMk cId="1686808399" sldId="272"/>
            <ac:spMk id="7" creationId="{9C296A56-C51E-69AA-3D1C-7E1E2BB1EF54}"/>
          </ac:spMkLst>
        </pc:spChg>
        <pc:spChg chg="mod">
          <ac:chgData name="Ilyass Chelli" userId="57aca843-3edc-45ce-b629-2616236eaf55" providerId="ADAL" clId="{1D1B4D5B-C5BE-4FB6-B80D-A584E3625ED7}" dt="2026-10-05T10:59:19.786" v="119" actId="20577"/>
          <ac:spMkLst>
            <pc:docMk/>
            <pc:sldMk cId="1686808399" sldId="272"/>
            <ac:spMk id="8" creationId="{23A02F53-465F-89F9-013F-C2B4FDE9AACE}"/>
          </ac:spMkLst>
        </pc:spChg>
        <pc:spChg chg="add del mod">
          <ac:chgData name="Ilyass Chelli" userId="57aca843-3edc-45ce-b629-2616236eaf55" providerId="ADAL" clId="{1D1B4D5B-C5BE-4FB6-B80D-A584E3625ED7}" dt="2026-10-05T11:08:45.567" v="136"/>
          <ac:spMkLst>
            <pc:docMk/>
            <pc:sldMk cId="1686808399" sldId="272"/>
            <ac:spMk id="11" creationId="{C841BD87-F748-B90B-8C00-AFC543F889E7}"/>
          </ac:spMkLst>
        </pc:spChg>
        <pc:picChg chg="add mod">
          <ac:chgData name="Ilyass Chelli" userId="57aca843-3edc-45ce-b629-2616236eaf55" providerId="ADAL" clId="{1D1B4D5B-C5BE-4FB6-B80D-A584E3625ED7}" dt="2026-10-05T11:08:38.102" v="134" actId="1076"/>
          <ac:picMkLst>
            <pc:docMk/>
            <pc:sldMk cId="1686808399" sldId="272"/>
            <ac:picMk id="10" creationId="{1782B43F-5784-839F-31EF-7C7FC7A31056}"/>
          </ac:picMkLst>
        </pc:picChg>
        <pc:picChg chg="add mod">
          <ac:chgData name="Ilyass Chelli" userId="57aca843-3edc-45ce-b629-2616236eaf55" providerId="ADAL" clId="{1D1B4D5B-C5BE-4FB6-B80D-A584E3625ED7}" dt="2026-10-05T11:08:36.461" v="133" actId="1076"/>
          <ac:picMkLst>
            <pc:docMk/>
            <pc:sldMk cId="1686808399" sldId="272"/>
            <ac:picMk id="13" creationId="{83949C3D-A3F1-1A12-FD8A-D8BE73B51E8C}"/>
          </ac:picMkLst>
        </pc:picChg>
        <pc:picChg chg="add mod">
          <ac:chgData name="Ilyass Chelli" userId="57aca843-3edc-45ce-b629-2616236eaf55" providerId="ADAL" clId="{1D1B4D5B-C5BE-4FB6-B80D-A584E3625ED7}" dt="2026-10-05T11:09:08.166" v="142" actId="1076"/>
          <ac:picMkLst>
            <pc:docMk/>
            <pc:sldMk cId="1686808399" sldId="272"/>
            <ac:picMk id="15" creationId="{55E77BB3-423C-843C-A098-508C7CED44D1}"/>
          </ac:picMkLst>
        </pc:picChg>
      </pc:sldChg>
      <pc:sldMasterChg chg="modTransition modSldLayout">
        <pc:chgData name="Ilyass Chelli" userId="57aca843-3edc-45ce-b629-2616236eaf55" providerId="ADAL" clId="{1D1B4D5B-C5BE-4FB6-B80D-A584E3625ED7}" dt="2026-10-05T10:24:18.499" v="1"/>
        <pc:sldMasterMkLst>
          <pc:docMk/>
          <pc:sldMasterMk cId="0" sldId="2147483648"/>
        </pc:sldMasterMkLst>
        <pc:sldLayoutChg chg="modTransition">
          <pc:chgData name="Ilyass Chelli" userId="57aca843-3edc-45ce-b629-2616236eaf55" providerId="ADAL" clId="{1D1B4D5B-C5BE-4FB6-B80D-A584E3625ED7}" dt="2026-10-05T10:24:18.499" v="1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7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réseau : on explique la topologie, le plan d’adressage, le choix du matériel puis les commandes utilisées.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en une phrase : on voit le réseau, on explique les adresses, le matériel, puis les commandes.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cahier des charges demande le réseau local de la commune de Testville : environ 80 postes fixes, 30 utilisateurs mobiles, un Wi-Fi invité séparé, des VLAN à définir nous-mêmes. Contraintes : un routeur par bâtiment, routage statique uniquement, tout configuré en CLI dans Packet Tracer. Le réseau est ouvert : pas d’ACL demandée (c’est facultatif).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bâtiments : l’hôtel de ville avec 60 postes sur 3 niveaux plus le sous-sol IT, la bibliothèque à 150 m (6 postes fixes, 12 postes publics, 2 bornes Wi-Fi) et l’atelier à 80 m (8 postes). Les serveurs du sous-sol doivent être accessibles depuis tous les bâtiments.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sites : la bibliothèque (Routeur 1), le bâtiment principal avec 3 étages (Routeur 2) et l’atelier du service technique (Routeur 3). Le Routeur 2 est le centre : il relie les deux autres par des réseaux de transit /30.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la maquette réalisée dans Packet Tracer : on y retrouve les 4 switches, les 3 routeurs et les appareils de chaque zone. Le routeur de secours dessiné à côté du Routeur 2 n’est pas configuré.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service a son VLAN et son sous-réseau, dimensionné selon le nombre d’appareils. Les 7 réseaux sont en 192.168.X.0 où X est le numéro du VLAN. Les passerelles sont toujours la première adresse (.1).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passerelles sont en adresse fixe. Le serveur DHCP est en 192.168.10.3 et distribue les adresses de tous les PC, imprimantes et points d’accès.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liaisons entre routeurs : 10.0.0.0/30 entre R1 et R2 (Cat7, 80 m), 10.0.0.4/30 entre R2 et R3 (fibre, 150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Argumentaire à adapter avec vos propres raisons. Le point fort : un switch par zone pour limiter la longueur des câbles, un routeur par site, et la fibre optique pour la distance supérieure à 100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crée un VLAN par service : 10 serveurs, 20 bibliothèque, 30 finance, 40 accueil, 50 direction, 60 service technique, 70 guest.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port où l’on branche un PC ou une imprimante est mis en mode access et affecté à un seul VLAN. Exemple : Fa0/2 du Switch1 est dans le VLAN 20 (bibliothèque).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port Gig0/1 relie le switch au routeur. Un seul câble transporte tous les VLAN du switch : sur un switch 2960 le trunk est en 802.1Q par défaut, donc la commande d’encapsulation n’est pas nécessaire (elle n’existe pas sur ce modèle).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seul port physique du routeur sert de passerelle à tous les VLAN d’un switch : c’est le routage inter-VLAN (router-on-a-stick).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routeur ne connaît que ses réseaux directement connectés. On lui indique par quel voisin atteindre les autres : 5 routes sur le Routeur 1, 3 sur le Routeur 2, 6 sur le Routeur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DHCP est dans le VLAN 10. Les demandes DHCP sont des broadcasts qui ne traversent pas les routeurs : helper-address les transforme en demandes dirigées vers le serveur.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6F014-6AED-B0AC-6FF9-8EFCE9F1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E4D00-0139-77BB-9DD1-6851ECC5E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DDD2C-2C31-775D-2417-E8DEF4689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DHCP est dans le VLAN 10. Les demandes DHCP sont des broadcasts qui ne traversent pas les routeurs : helper-address les transforme en demandes dirigées vers le serveur.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2B197-4A6C-4626-0F65-EAFDCE113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0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dire à l’oral par Ilyass et Quentin : notre avis sur le réseau, puis ce qu’on aurait pu faire en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la classe puis ouvrir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86868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l’hôtel de ville de Testiville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VLAN, routage inter-VLAN et DHCP – 3 sites, 7 VLAN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Oval 4"/>
          <p:cNvSpPr/>
          <p:nvPr/>
        </p:nvSpPr>
        <p:spPr>
          <a:xfrm>
            <a:off x="822960" y="1005840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005840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Contexte : cahier des charges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426464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26464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Vue d’ensemble du réseau (schéma draw.io)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847088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470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847088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Maquette Packet Tracer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267712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2677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267712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Plan d’adressage et VLAN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883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688336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Pourquoi ce matériel ?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108960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1089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108960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Commandes des switches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529584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529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529584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Commandes des routeurs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3950208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9502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950208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Notre avis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370832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3708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370832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1A202C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Ilyass &amp; Quentin · ETML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Contexte : 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A9D8F"/>
                </a:solidFill>
                <a:latin typeface="Calibri"/>
              </a:rPr>
              <a:t>P_RES-129 · Groupe 1 · Commune de Testville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02336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1F3A5F"/>
                </a:solidFill>
                <a:latin typeface="Calibri"/>
              </a:rPr>
              <a:t>Le mandat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6118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Moderniser </a:t>
            </a:r>
            <a:r>
              <a:rPr sz="1300">
                <a:solidFill>
                  <a:srgbClr val="4A5568"/>
                </a:solidFill>
                <a:latin typeface="Calibri"/>
              </a:rPr>
              <a:t>le réseau local des bâtiments communaux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~80 postes fixes </a:t>
            </a:r>
            <a:r>
              <a:rPr sz="1300">
                <a:solidFill>
                  <a:srgbClr val="4A5568"/>
                </a:solidFill>
                <a:latin typeface="Calibri"/>
              </a:rPr>
              <a:t>et 30 utilisateurs mobiles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Wi-Fi invité </a:t>
            </a:r>
            <a:r>
              <a:rPr sz="1300">
                <a:solidFill>
                  <a:srgbClr val="4A5568"/>
                </a:solidFill>
                <a:latin typeface="Calibri"/>
              </a:rPr>
              <a:t>séparé du reste du réseau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VLAN à définir </a:t>
            </a:r>
            <a:r>
              <a:rPr sz="1300">
                <a:solidFill>
                  <a:srgbClr val="4A5568"/>
                </a:solidFill>
                <a:latin typeface="Calibri"/>
              </a:rPr>
              <a:t>selon les services, étages et bâtiments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Réseau ouvert : </a:t>
            </a:r>
            <a:r>
              <a:rPr sz="1300">
                <a:solidFill>
                  <a:srgbClr val="4A5568"/>
                </a:solidFill>
                <a:latin typeface="Calibri"/>
              </a:rPr>
              <a:t>tous les VLAN se parlent, aucune ACL demandée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63040"/>
            <a:ext cx="402336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1F3A5F"/>
                </a:solidFill>
                <a:latin typeface="Calibri"/>
              </a:rPr>
              <a:t>Les contraintes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48840"/>
            <a:ext cx="36118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Un routeur </a:t>
            </a:r>
            <a:r>
              <a:rPr sz="1300">
                <a:solidFill>
                  <a:srgbClr val="4A5568"/>
                </a:solidFill>
                <a:latin typeface="Calibri"/>
              </a:rPr>
              <a:t>par bâtiment, liaisons dédiées entre eux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Routage statique </a:t>
            </a:r>
            <a:r>
              <a:rPr sz="1300">
                <a:solidFill>
                  <a:srgbClr val="4A5568"/>
                </a:solidFill>
                <a:latin typeface="Calibri"/>
              </a:rPr>
              <a:t>uniquement (ip route), RIP, OSPF et EIGRP interdits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Tout en CLI </a:t>
            </a:r>
            <a:r>
              <a:rPr sz="1300">
                <a:solidFill>
                  <a:srgbClr val="4A5568"/>
                </a:solidFill>
                <a:latin typeface="Calibri"/>
              </a:rPr>
              <a:t>dans Cisco Packet Tracer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Tests : </a:t>
            </a:r>
            <a:r>
              <a:rPr sz="1300">
                <a:solidFill>
                  <a:srgbClr val="4A5568"/>
                </a:solidFill>
                <a:latin typeface="Calibri"/>
              </a:rPr>
              <a:t>ping entre VLAN, étages et bâtiments, accès aux serveurs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300" b="1">
                <a:solidFill>
                  <a:srgbClr val="1F3A5F"/>
                </a:solidFill>
                <a:latin typeface="Calibri"/>
              </a:rPr>
              <a:t>Facultatif : </a:t>
            </a:r>
            <a:r>
              <a:rPr sz="1300">
                <a:solidFill>
                  <a:srgbClr val="4A5568"/>
                </a:solidFill>
                <a:latin typeface="Calibri"/>
              </a:rPr>
              <a:t>ACL pour aller plus loin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Ilyass &amp; Quentin · ETML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Les bâtiments de la commune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1389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Bâtiment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Postes fixes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Postes publics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Imprimantes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Bornes Wi-Fi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Hôtel de ville (principal)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Bibliothèque municipale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150 m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Atelier des services techniques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80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Calibri"/>
              </a:rPr>
              <a:t>Détail de l’hôtel de ville (distances mesurées depuis ce bâtiment)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71800"/>
          <a:ext cx="8229600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Postes fixes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Imprimantes</a:t>
                      </a:r>
                    </a:p>
                  </a:txBody>
                  <a:tcPr marL="73152" marR="73152" marT="27432" marB="27432" anchor="ctr"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Sous-sol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Local IT et serveurs internes (intranet, fichiers)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2 serveurs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Rez-de-chaussée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Accueil et guichets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1er étage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Finances et comptabilité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2e étage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Direction et ressources humaines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 du réseau</a:t>
            </a:r>
            <a:endParaRPr lang="en-US" sz="2600" dirty="0"/>
          </a:p>
        </p:txBody>
      </p:sp>
      <p:pic>
        <p:nvPicPr>
          <p:cNvPr id="6" name="Image 0" descr="/mnt/user-data/uploads/Capture_d_écran_2026-10-04_0921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486400" cy="3154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80760" y="109728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routeurs 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bibliothèque, R2 bâtiment central, R3 service technique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switches 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zone (S1 à S4)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liaisons de transit 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10.0.0.0/30 et 10.0.0.4/30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en étoile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du </a:t>
            </a:r>
            <a:r>
              <a:rPr lang="en-US" sz="13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(bibliothèque)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réalisé sur draw.io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Packet Tracer</a:t>
            </a:r>
            <a:endParaRPr lang="en-US" sz="2600" dirty="0"/>
          </a:p>
        </p:txBody>
      </p:sp>
      <p:pic>
        <p:nvPicPr>
          <p:cNvPr id="5" name="Picture 4" descr="pt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7863840" cy="3733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d’adressage et VLAN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41985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Hôtes utilisables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192.168.10.0/29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192.168.20.0/28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Accueil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192.168.60.0/27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192.168.70.0/27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R1–R2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.1 / R2 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R2–R3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10.0.0.4/30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.5 / R3 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/30 des liaisons de transit ne gaspillent que 2 adresses utiles par lien.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: IP par appareil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56006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Passerelle (fixe)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Appareils (adresse par DHCP)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DHCP 192.168.10.3 (fixe) · Serveur 2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PC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PC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Accueil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PC · 2 imprimantes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PC · Imprimante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PC · 2 points d’accès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: réseaux de transit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975400"/>
              </p:ext>
            </p:extLst>
          </p:nvPr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Extrémité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Extrémité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– 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1 Gig0/0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2 Gig0/0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Cat7, 80 m, </a:t>
                      </a:r>
                      <a:r>
                        <a:rPr lang="en-US" sz="1400" dirty="0" err="1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Débit</a:t>
                      </a: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fr-CH" sz="1400"/>
                        <a:t>10 Gbit/s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– 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10.0.0.4/30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2 Gig2/0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Routeur 3 Gig0/2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optique, 150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matériel 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5"/>
          <p:cNvSpPr txBox="1"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2960-24TT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de niveau 2 : 24 ports FastEthernet pour les PC et imprimantes, 2 ports Gigabit pour la liaison trunk. Gère les VLAN et sépare les services.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9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2911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des sites éloignés (R1, R3) : ports Gigabit, routage inter-VLAN par sous-interfaces, routes statiques.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Shape 12"/>
          <p:cNvSpPr/>
          <p:nvPr/>
        </p:nvSpPr>
        <p:spPr>
          <a:xfrm>
            <a:off x="457200" y="2880360"/>
            <a:ext cx="73152" cy="1600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3"/>
          <p:cNvSpPr txBox="1"/>
          <p:nvPr/>
        </p:nvSpPr>
        <p:spPr>
          <a:xfrm>
            <a:off x="6858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central (R2)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modulaire avec plusieurs ports Gigabit : un pour chaque étage et un pour chaque liaison vers R1 et R3.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2880360"/>
            <a:ext cx="402336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Shape 16"/>
          <p:cNvSpPr/>
          <p:nvPr/>
        </p:nvSpPr>
        <p:spPr>
          <a:xfrm>
            <a:off x="4663440" y="2880360"/>
            <a:ext cx="73152" cy="16002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Text 17"/>
          <p:cNvSpPr txBox="1"/>
          <p:nvPr/>
        </p:nvSpPr>
        <p:spPr>
          <a:xfrm>
            <a:off x="48920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337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Cat7 (80 m) vers la bibliothèque : reste sous la limite de 100 m du cuivre. Fibre optique (150 m) vers l’atelier : dépasse les 100 m.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: créer les VLAN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20370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 txBox="1"/>
          <p:nvPr/>
        </p:nvSpPr>
        <p:spPr>
          <a:xfrm>
            <a:off x="502920" y="1188720"/>
            <a:ext cx="45720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bibliothèque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70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guest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 VLAN numéro 20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 donne un nom lisible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mode précédent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VLAN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tout, un par service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: les ports d’accès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 txBox="1"/>
          <p:nvPr/>
        </p:nvSpPr>
        <p:spPr>
          <a:xfrm>
            <a:off x="50292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FastEthernet 0/2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mode access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access vlan 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 0/2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choisit le port à configurer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access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 relie un seul appareil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vlan 20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ce port dans le VLAN 20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: le trunk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 txBox="1"/>
          <p:nvPr/>
        </p:nvSpPr>
        <p:spPr>
          <a:xfrm>
            <a:off x="50292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Gig0/1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mode trunk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trunk allowed vlan 20,70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trunk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lien pour plusieurs VLAN (802.1Q par défaut sur un 2960)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vlan 20,70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ces VLAN passent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: les sous-interfaces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20370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 txBox="1"/>
          <p:nvPr/>
        </p:nvSpPr>
        <p:spPr>
          <a:xfrm>
            <a:off x="502920" y="1188720"/>
            <a:ext cx="45720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 shutdown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0/1.20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encapsulation dot1Q 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address 192.168.20.1 255.255.255.240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 le port physique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0/1.20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sous-interface du VLAN 20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dot1Q 20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 la sous-interface au VLAN 20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la passerelle du VLAN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: les routes statiques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841248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 txBox="1"/>
          <p:nvPr/>
        </p:nvSpPr>
        <p:spPr>
          <a:xfrm>
            <a:off x="502920" y="12344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 192.168.30.0 255.255.255.192 10.0.0.2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192.168.30.0 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à atteindre (VLAN 30 finance)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255.255.255.192 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masque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10.0.0.2 </a:t>
            </a: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voisin à qui on envoie les paquets (next-hop)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: DHCP et sauvegarde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84632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 txBox="1"/>
          <p:nvPr/>
        </p:nvSpPr>
        <p:spPr>
          <a:xfrm>
            <a:off x="502920" y="11887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 0/1.20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helper-address 192.168.10.3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memory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helper-address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demandes DHCP au serveur 192.168.10.3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mode privilégié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memory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la configuration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3E8D-6F3D-BC7E-991A-7672FF61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FBC725-286A-30C9-303E-8362C1A53EB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16BD2B-4086-1CBA-AE74-8D3759DA9766}"/>
              </a:ext>
            </a:extLst>
          </p:cNvPr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A30A86-9793-1729-A2E8-6D52C64DC739}"/>
              </a:ext>
            </a:extLst>
          </p:cNvPr>
          <p:cNvSpPr txBox="1"/>
          <p:nvPr/>
        </p:nvSpPr>
        <p:spPr>
          <a:xfrm>
            <a:off x="36576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</a:t>
            </a:r>
            <a:r>
              <a:rPr lang="fr-CH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des pings </a:t>
            </a:r>
            <a:endParaRPr lang="en-US" sz="2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3A02F53-465F-89F9-013F-C2B4FDE9AACE}"/>
              </a:ext>
            </a:extLst>
          </p:cNvPr>
          <p:cNvSpPr txBox="1"/>
          <p:nvPr/>
        </p:nvSpPr>
        <p:spPr>
          <a:xfrm>
            <a:off x="5486400" y="11430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782B43F-5784-839F-31EF-7C7FC7A3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7" y="3481821"/>
            <a:ext cx="7461583" cy="134433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3949C3D-A3F1-1A12-FD8A-D8BE73B51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7" y="822960"/>
            <a:ext cx="3761979" cy="260604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5E77BB3-423C-843C-A098-508C7CED4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1331" y="938182"/>
            <a:ext cx="3781841" cy="237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08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avis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8"/>
          <p:cNvSpPr txBox="1"/>
          <p:nvPr/>
        </p:nvSpPr>
        <p:spPr>
          <a:xfrm>
            <a:off x="489204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qu’on aurait pu faire en plus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 txBox="1"/>
          <p:nvPr/>
        </p:nvSpPr>
        <p:spPr>
          <a:xfrm>
            <a:off x="585216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Ilyass &amp; Quentin · ETML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nous avoir écoutés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des questions ?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1721</Words>
  <Application>Microsoft Office PowerPoint</Application>
  <PresentationFormat>Affichage à l'écran (16:9)</PresentationFormat>
  <Paragraphs>331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Réseau Testiville</dc:title>
  <dc:subject>PptxGenJS Presentation</dc:subject>
  <dc:creator>PptxGenJS</dc:creator>
  <cp:lastModifiedBy>Ilyass Chelli</cp:lastModifiedBy>
  <cp:revision>2</cp:revision>
  <dcterms:created xsi:type="dcterms:W3CDTF">2026-10-04T07:48:59Z</dcterms:created>
  <dcterms:modified xsi:type="dcterms:W3CDTF">2026-10-05T13:40:09Z</dcterms:modified>
</cp:coreProperties>
</file>